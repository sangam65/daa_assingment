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79" r:id="rId3"/>
    <p:sldId id="257" r:id="rId4"/>
    <p:sldId id="291" r:id="rId5"/>
    <p:sldId id="280" r:id="rId6"/>
    <p:sldId id="260" r:id="rId7"/>
    <p:sldId id="285" r:id="rId8"/>
    <p:sldId id="287" r:id="rId9"/>
    <p:sldId id="286" r:id="rId10"/>
    <p:sldId id="290" r:id="rId11"/>
    <p:sldId id="292" r:id="rId12"/>
    <p:sldId id="293" r:id="rId13"/>
    <p:sldId id="288" r:id="rId14"/>
    <p:sldId id="284" r:id="rId15"/>
    <p:sldId id="289" r:id="rId16"/>
    <p:sldId id="269" r:id="rId17"/>
    <p:sldId id="281" r:id="rId18"/>
    <p:sldId id="264" r:id="rId19"/>
    <p:sldId id="283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70255C-5FDA-4F79-A280-0912CDE28B3F}">
          <p14:sldIdLst>
            <p14:sldId id="256"/>
            <p14:sldId id="279"/>
            <p14:sldId id="257"/>
            <p14:sldId id="291"/>
            <p14:sldId id="280"/>
            <p14:sldId id="260"/>
            <p14:sldId id="285"/>
            <p14:sldId id="287"/>
            <p14:sldId id="286"/>
          </p14:sldIdLst>
        </p14:section>
        <p14:section name="Untitled Section" id="{08ADE71F-7112-4B08-89C6-81AE690908A6}">
          <p14:sldIdLst>
            <p14:sldId id="290"/>
            <p14:sldId id="292"/>
            <p14:sldId id="293"/>
            <p14:sldId id="288"/>
            <p14:sldId id="284"/>
            <p14:sldId id="289"/>
            <p14:sldId id="269"/>
            <p14:sldId id="281"/>
            <p14:sldId id="264"/>
            <p14:sldId id="28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4799-DAC2-4E87-BBC6-C4278CFF2FD3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9B43B-0BA9-4257-8CDA-18681263DB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4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7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7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FA906B3-C5E6-431E-B84A-717DF88A212C}" type="datetimeFigureOut">
              <a:rPr lang="en-US" smtClean="0"/>
              <a:pPr/>
              <a:t>3/21/2021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7290" y="857232"/>
            <a:ext cx="67866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itchFamily="18" charset="0"/>
              </a:rPr>
              <a:t>Design And Analysis of Algorithms</a:t>
            </a:r>
          </a:p>
          <a:p>
            <a:pPr algn="ctr"/>
            <a:endParaRPr lang="en-US" sz="2400" dirty="0">
              <a:latin typeface="Arial Rounded MT Bold" pitchFamily="34" charset="0"/>
              <a:ea typeface="Cambria" pitchFamily="18" charset="0"/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itchFamily="18" charset="0"/>
              </a:rPr>
              <a:t>Department of Information Technology</a:t>
            </a:r>
            <a:endParaRPr lang="en-US" sz="2400" dirty="0">
              <a:latin typeface="Arial Rounded MT Bold" pitchFamily="34" charset="0"/>
              <a:ea typeface="Cambria" pitchFamily="18" charset="0"/>
            </a:endParaRPr>
          </a:p>
          <a:p>
            <a:pPr algn="ctr"/>
            <a:endParaRPr lang="en-US" dirty="0">
              <a:latin typeface="Arial Rounded MT Bold" pitchFamily="34" charset="0"/>
              <a:ea typeface="Cambria" pitchFamily="18" charset="0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Arial Rounded MT Bold" pitchFamily="34" charset="0"/>
                <a:ea typeface="Cambria" pitchFamily="18" charset="0"/>
              </a:rPr>
              <a:t>-----Group Members-----</a:t>
            </a:r>
          </a:p>
          <a:p>
            <a:pPr algn="ctr"/>
            <a:endParaRPr lang="en-US" dirty="0">
              <a:latin typeface="Arial Rounded MT Bold" pitchFamily="34" charset="0"/>
              <a:ea typeface="Cambria" pitchFamily="18" charset="0"/>
            </a:endParaRPr>
          </a:p>
          <a:p>
            <a:pPr algn="ctr"/>
            <a:r>
              <a:rPr lang="en-IN" b="1" dirty="0" err="1"/>
              <a:t>Suhaib</a:t>
            </a:r>
            <a:r>
              <a:rPr lang="en-IN" b="1" dirty="0"/>
              <a:t> Khan(</a:t>
            </a:r>
            <a:r>
              <a:rPr lang="en-IN" b="1" dirty="0" err="1"/>
              <a:t>IIB2019039</a:t>
            </a:r>
            <a:r>
              <a:rPr lang="en-IN" b="1" dirty="0"/>
              <a:t>)</a:t>
            </a:r>
          </a:p>
          <a:p>
            <a:pPr algn="ctr"/>
            <a:r>
              <a:rPr lang="en-IN" b="1" dirty="0"/>
              <a:t> Sangam </a:t>
            </a:r>
            <a:r>
              <a:rPr lang="en-IN" b="1" dirty="0" err="1"/>
              <a:t>Barnwal</a:t>
            </a:r>
            <a:r>
              <a:rPr lang="en-IN" b="1" dirty="0"/>
              <a:t>(</a:t>
            </a:r>
            <a:r>
              <a:rPr lang="en-IN" b="1" dirty="0" err="1"/>
              <a:t>IIT2019094</a:t>
            </a:r>
            <a:r>
              <a:rPr lang="en-IN" b="1" dirty="0"/>
              <a:t>)</a:t>
            </a:r>
          </a:p>
          <a:p>
            <a:pPr algn="ctr"/>
            <a:r>
              <a:rPr lang="en-IN" b="1" dirty="0"/>
              <a:t> Sanjana Reddy (</a:t>
            </a:r>
            <a:r>
              <a:rPr lang="en-IN" b="1" dirty="0" err="1"/>
              <a:t>IIT2019095</a:t>
            </a:r>
            <a:r>
              <a:rPr lang="en-IN" b="1" dirty="0"/>
              <a:t>)</a:t>
            </a:r>
          </a:p>
          <a:p>
            <a:pPr algn="ctr"/>
            <a:endParaRPr lang="en-US" dirty="0">
              <a:solidFill>
                <a:srgbClr val="C00000"/>
              </a:solidFill>
              <a:latin typeface="Arial Rounded MT Bold" pitchFamily="34" charset="0"/>
              <a:ea typeface="Cambria" pitchFamily="18" charset="0"/>
            </a:endParaRPr>
          </a:p>
          <a:p>
            <a:pPr algn="ctr"/>
            <a:r>
              <a:rPr lang="en-US" dirty="0">
                <a:latin typeface="Arial Rounded MT Bold" pitchFamily="34" charset="0"/>
                <a:ea typeface="Cambria" pitchFamily="18" charset="0"/>
              </a:rPr>
              <a:t>ASSIGNMENT-4 DEMOSTRATION</a:t>
            </a:r>
          </a:p>
          <a:p>
            <a:pPr algn="ctr"/>
            <a:endParaRPr lang="en-US" dirty="0">
              <a:latin typeface="Arial Rounded MT Bold" pitchFamily="34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271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OUTLINES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852" y="2071678"/>
            <a:ext cx="65008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Introduction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 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Divide and Conquer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Data Structures Used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Experimental Analysis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Conclusion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5430" y="1556792"/>
            <a:ext cx="650085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Given an array and a value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x,the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problem is to find the floor of x which is the largest element in the array greater than or equal to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x.In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this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paper,we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see the algorithm using divide and conquer approach to solve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problem.Then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 will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time complexity of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algorithm.We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see a O(log n) solution which will be much faster than the brute force approach. </a:t>
            </a:r>
            <a:r>
              <a:rPr lang="en-US" sz="3200" dirty="0"/>
              <a:t>“</a:t>
            </a:r>
            <a:endParaRPr lang="en-US" sz="3200" dirty="0">
              <a:solidFill>
                <a:srgbClr val="002060"/>
              </a:solidFill>
              <a:latin typeface="Arial Rounded MT Bold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28AF-A5FE-4C74-963E-6BAC7D9D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77B5D-BE66-4B26-8923-DD6E710ABDA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We are given an array and a value x whose floor is to be </a:t>
            </a:r>
            <a:r>
              <a:rPr lang="en-US" dirty="0" err="1"/>
              <a:t>found.A</a:t>
            </a:r>
            <a:r>
              <a:rPr lang="en-US" dirty="0"/>
              <a:t> naive solution can be to traverse through the array and find the first element greater than x. The element just before the found element is the floor of </a:t>
            </a:r>
            <a:r>
              <a:rPr lang="en-US" dirty="0" err="1"/>
              <a:t>x.This</a:t>
            </a:r>
            <a:r>
              <a:rPr lang="en-US" dirty="0"/>
              <a:t> is similar to linear search and gives the O(n) </a:t>
            </a:r>
            <a:r>
              <a:rPr lang="en-US" dirty="0" err="1"/>
              <a:t>solution.If</a:t>
            </a:r>
            <a:r>
              <a:rPr lang="en-US" dirty="0"/>
              <a:t> this solution uses linear search ,we can get the intuitive idea of using binary search to solve the problem efficiently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43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Divide and Conquer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7624" y="2000240"/>
            <a:ext cx="67419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Divide and Conquer is an algorithmic paradigm. A typical Divide and Conquer algorithm solves a problem using following three steps. </a:t>
            </a:r>
          </a:p>
          <a:p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Divide: Break the given problem into subproblems of same type. </a:t>
            </a:r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 Conquer: Recursively solve these subproblems. </a:t>
            </a:r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 Combine: Appropriately combine the answers.</a:t>
            </a:r>
            <a:endParaRPr lang="en-US" sz="2000" dirty="0">
              <a:solidFill>
                <a:srgbClr val="002060"/>
              </a:solidFill>
              <a:latin typeface="Arial Rounded MT Bold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642918"/>
            <a:ext cx="26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174" y="3214686"/>
            <a:ext cx="3143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Algorithm based on Divide and Conquer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928802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Input set of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3570" y="4500570"/>
            <a:ext cx="285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Output the closest pair</a:t>
            </a:r>
          </a:p>
        </p:txBody>
      </p:sp>
      <p:sp>
        <p:nvSpPr>
          <p:cNvPr id="9" name="Bent Arrow 8"/>
          <p:cNvSpPr/>
          <p:nvPr/>
        </p:nvSpPr>
        <p:spPr>
          <a:xfrm rot="5400000">
            <a:off x="2821769" y="2107397"/>
            <a:ext cx="928694" cy="857256"/>
          </a:xfrm>
          <a:prstGeom prst="bent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Bent Arrow 9"/>
          <p:cNvSpPr/>
          <p:nvPr/>
        </p:nvSpPr>
        <p:spPr>
          <a:xfrm rot="5400000">
            <a:off x="5322099" y="3464719"/>
            <a:ext cx="928694" cy="857256"/>
          </a:xfrm>
          <a:prstGeom prst="bentArrow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Algorithmic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414" y="1500174"/>
            <a:ext cx="65008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Create three variables l = 0, mid and r = n-1.</a:t>
            </a:r>
          </a:p>
          <a:p>
            <a:pPr marL="342900" indent="-342900">
              <a:buAutoNum type="arabicPeriod"/>
            </a:pPr>
            <a:r>
              <a:rPr lang="en-US" dirty="0"/>
              <a:t> Recurse until and unless low is less than high.</a:t>
            </a:r>
          </a:p>
          <a:p>
            <a:pPr marL="342900" indent="-342900">
              <a:buAutoNum type="arabicPeriod"/>
            </a:pPr>
            <a:r>
              <a:rPr lang="en-US" dirty="0"/>
              <a:t> check if the middle ( (l + r) /2) element is equal than x, if yes then return the mid index.</a:t>
            </a:r>
          </a:p>
          <a:p>
            <a:pPr marL="342900" indent="-342900">
              <a:buAutoNum type="arabicPeriod"/>
            </a:pPr>
            <a:r>
              <a:rPr lang="en-US" dirty="0"/>
              <a:t> else check if middle element is greater than x ,if yes then update the r, </a:t>
            </a:r>
            <a:r>
              <a:rPr lang="en-US" dirty="0" err="1"/>
              <a:t>i.e</a:t>
            </a:r>
            <a:r>
              <a:rPr lang="en-US" dirty="0"/>
              <a:t> r = mid - 1, and recurse. In this step we are reducing the search space to half. </a:t>
            </a:r>
          </a:p>
          <a:p>
            <a:pPr marL="342900" indent="-342900">
              <a:buAutoNum type="arabicPeriod"/>
            </a:pPr>
            <a:r>
              <a:rPr lang="en-US" dirty="0"/>
              <a:t> Else update the l, </a:t>
            </a:r>
            <a:r>
              <a:rPr lang="en-US" dirty="0" err="1"/>
              <a:t>i.e</a:t>
            </a:r>
            <a:r>
              <a:rPr lang="en-US" dirty="0"/>
              <a:t> l = mid +1 and recurse. </a:t>
            </a:r>
          </a:p>
          <a:p>
            <a:pPr marL="342900" indent="-342900">
              <a:buAutoNum type="arabicPeriod"/>
            </a:pPr>
            <a:r>
              <a:rPr lang="en-US" dirty="0"/>
              <a:t> when l ≥r ,return l. </a:t>
            </a:r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 = </a:t>
            </a:r>
            <a:r>
              <a:rPr lang="en-US" dirty="0" err="1"/>
              <a:t>x,floor</a:t>
            </a:r>
            <a:r>
              <a:rPr lang="en-US" dirty="0"/>
              <a:t> = x. </a:t>
            </a:r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 &lt; </a:t>
            </a:r>
            <a:r>
              <a:rPr lang="en-US" dirty="0" err="1"/>
              <a:t>x,floor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[l]. </a:t>
            </a:r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[l]&gt; </a:t>
            </a:r>
            <a:r>
              <a:rPr lang="en-US" dirty="0" err="1"/>
              <a:t>xand</a:t>
            </a:r>
            <a:r>
              <a:rPr lang="en-US" dirty="0"/>
              <a:t> </a:t>
            </a:r>
            <a:r>
              <a:rPr lang="en-US" dirty="0" err="1"/>
              <a:t>l6</a:t>
            </a:r>
            <a:r>
              <a:rPr lang="en-US" dirty="0"/>
              <a:t>= 0, floor = </a:t>
            </a:r>
            <a:r>
              <a:rPr lang="en-US" dirty="0" err="1"/>
              <a:t>arr</a:t>
            </a:r>
            <a:r>
              <a:rPr lang="en-US" dirty="0"/>
              <a:t>[l − 1] </a:t>
            </a:r>
          </a:p>
          <a:p>
            <a:pPr marL="342900" indent="-342900">
              <a:buAutoNum type="arabicPeriod"/>
            </a:pPr>
            <a:r>
              <a:rPr lang="en-US" dirty="0"/>
              <a:t> else floor not present.</a:t>
            </a:r>
            <a:endParaRPr lang="en-US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587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Algorithmic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414" y="1714488"/>
            <a:ext cx="6929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ANALYSIS: We have tried to do the </a:t>
            </a:r>
            <a:r>
              <a:rPr lang="en-US" dirty="0" err="1"/>
              <a:t>Apriori</a:t>
            </a:r>
            <a:r>
              <a:rPr lang="en-US" dirty="0"/>
              <a:t> Analysis of the approach based on Divide and Conquer. Let T(n) and S(n) is the time and space respectively.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COMPLEXITY DERIVATION: Let Time complexity of above algorithm be T(n). In the base case the </a:t>
            </a:r>
            <a:r>
              <a:rPr lang="en-US" dirty="0" err="1"/>
              <a:t>funtion</a:t>
            </a:r>
            <a:r>
              <a:rPr lang="en-US" dirty="0"/>
              <a:t> compares </a:t>
            </a:r>
            <a:r>
              <a:rPr lang="en-US" dirty="0" err="1"/>
              <a:t>l,r</a:t>
            </a:r>
            <a:r>
              <a:rPr lang="en-US" dirty="0"/>
              <a:t> and returns which takes constant </a:t>
            </a:r>
            <a:r>
              <a:rPr lang="en-US" dirty="0" err="1"/>
              <a:t>time.Otherwise</a:t>
            </a:r>
            <a:r>
              <a:rPr lang="en-US" dirty="0"/>
              <a:t>, comparison and calculation of the middle element will take constant time and then the problem is divided into another problem of size n/2 (either </a:t>
            </a:r>
            <a:r>
              <a:rPr lang="en-US" dirty="0" err="1"/>
              <a:t>floorSearch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l, mid - 1, x) or </a:t>
            </a:r>
            <a:r>
              <a:rPr lang="en-US" dirty="0" err="1"/>
              <a:t>floorSearch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r, x). </a:t>
            </a:r>
            <a:endParaRPr lang="en-US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A Clear View</a:t>
            </a:r>
          </a:p>
        </p:txBody>
      </p:sp>
      <p:pic>
        <p:nvPicPr>
          <p:cNvPr id="1026" name="Picture 2" descr="Closest Pair of Points using Divide and Conquer algorithm - GeeksforGee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357298"/>
            <a:ext cx="7572428" cy="423101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Figure 2: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Divide and Conquer Clear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3D5D7D-3644-4290-A47A-E0FB9719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77800"/>
            <a:ext cx="8534400" cy="53035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563F-BE18-4F2F-8FD6-423198EF0DB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908720"/>
            <a:ext cx="8503920" cy="51903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#include &lt;bits/</a:t>
            </a:r>
            <a:r>
              <a:rPr lang="en-IN" sz="2000" dirty="0" err="1"/>
              <a:t>stdc</a:t>
            </a:r>
            <a:r>
              <a:rPr lang="en-IN" sz="2000"/>
              <a:t>++.h&gt;</a:t>
            </a:r>
          </a:p>
          <a:p>
            <a:pPr marL="0" indent="0">
              <a:buNone/>
            </a:pPr>
            <a:r>
              <a:rPr lang="en-IN" sz="2000" dirty="0"/>
              <a:t>using namespace std; </a:t>
            </a:r>
          </a:p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floorSearch</a:t>
            </a:r>
            <a:r>
              <a:rPr lang="en-IN" sz="2000" dirty="0"/>
              <a:t>(int </a:t>
            </a:r>
            <a:r>
              <a:rPr lang="en-IN" sz="2000" dirty="0" err="1"/>
              <a:t>arr</a:t>
            </a:r>
            <a:r>
              <a:rPr lang="en-IN" sz="2000" dirty="0"/>
              <a:t>[], int l, int r, int x) { 	</a:t>
            </a:r>
          </a:p>
          <a:p>
            <a:pPr marL="0" indent="0">
              <a:buNone/>
            </a:pPr>
            <a:r>
              <a:rPr lang="en-IN" sz="2000" dirty="0"/>
              <a:t>if (r &gt; l) { 		</a:t>
            </a:r>
          </a:p>
          <a:p>
            <a:pPr marL="0" indent="0">
              <a:buNone/>
            </a:pPr>
            <a:r>
              <a:rPr lang="en-IN" sz="2000" dirty="0"/>
              <a:t>int mid =(r + l) / 2;		</a:t>
            </a:r>
          </a:p>
          <a:p>
            <a:pPr marL="0" indent="0">
              <a:buNone/>
            </a:pPr>
            <a:r>
              <a:rPr lang="en-IN" sz="2000" dirty="0"/>
              <a:t>if (</a:t>
            </a:r>
            <a:r>
              <a:rPr lang="en-IN" sz="2000" dirty="0" err="1"/>
              <a:t>arr</a:t>
            </a:r>
            <a:r>
              <a:rPr lang="en-IN" sz="2000" dirty="0"/>
              <a:t>[mid] == x) 			</a:t>
            </a:r>
          </a:p>
          <a:p>
            <a:pPr marL="0" indent="0">
              <a:buNone/>
            </a:pPr>
            <a:r>
              <a:rPr lang="en-IN" sz="2000" dirty="0"/>
              <a:t>return mid; 		</a:t>
            </a:r>
          </a:p>
          <a:p>
            <a:pPr marL="0" indent="0">
              <a:buNone/>
            </a:pPr>
            <a:r>
              <a:rPr lang="en-IN" sz="2000" dirty="0"/>
              <a:t>if (</a:t>
            </a:r>
            <a:r>
              <a:rPr lang="en-IN" sz="2000" dirty="0" err="1"/>
              <a:t>arr</a:t>
            </a:r>
            <a:r>
              <a:rPr lang="en-IN" sz="2000" dirty="0"/>
              <a:t>[mid] &gt; x) 			</a:t>
            </a:r>
          </a:p>
          <a:p>
            <a:pPr marL="0" indent="0">
              <a:buNone/>
            </a:pPr>
            <a:r>
              <a:rPr lang="en-IN" sz="2000" dirty="0"/>
              <a:t>return </a:t>
            </a:r>
            <a:r>
              <a:rPr lang="en-IN" sz="2000" dirty="0" err="1"/>
              <a:t>floorSearch</a:t>
            </a:r>
            <a:r>
              <a:rPr lang="en-IN" sz="2000" dirty="0"/>
              <a:t>(</a:t>
            </a:r>
            <a:r>
              <a:rPr lang="en-IN" sz="2000" dirty="0" err="1"/>
              <a:t>arr</a:t>
            </a:r>
            <a:r>
              <a:rPr lang="en-IN" sz="2000" dirty="0"/>
              <a:t>, l, mid - 1, x); 		</a:t>
            </a:r>
          </a:p>
          <a:p>
            <a:pPr marL="0" indent="0">
              <a:buNone/>
            </a:pPr>
            <a:r>
              <a:rPr lang="en-IN" sz="2000" dirty="0"/>
              <a:t>return </a:t>
            </a:r>
            <a:r>
              <a:rPr lang="en-IN" sz="2000" dirty="0" err="1"/>
              <a:t>floorSearch</a:t>
            </a:r>
            <a:r>
              <a:rPr lang="en-IN" sz="2000" dirty="0"/>
              <a:t>(</a:t>
            </a:r>
            <a:r>
              <a:rPr lang="en-IN" sz="2000" dirty="0" err="1"/>
              <a:t>arr</a:t>
            </a:r>
            <a:r>
              <a:rPr lang="en-IN" sz="2000" dirty="0"/>
              <a:t>, mid + 1, r, x); } </a:t>
            </a:r>
          </a:p>
          <a:p>
            <a:pPr marL="0" indent="0">
              <a:buNone/>
            </a:pPr>
            <a:r>
              <a:rPr lang="en-US" sz="2000" dirty="0"/>
              <a:t>if(r&lt;=l)		</a:t>
            </a:r>
          </a:p>
          <a:p>
            <a:pPr marL="0" indent="0">
              <a:buNone/>
            </a:pPr>
            <a:r>
              <a:rPr lang="en-US" sz="2000" dirty="0"/>
              <a:t>return l; }</a:t>
            </a:r>
            <a:endParaRPr lang="en-I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8F04-1983-45FC-90B9-7F303ACB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49FF7-14FB-41B8-861C-01BDF1D4AD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int main(void) { </a:t>
            </a:r>
          </a:p>
          <a:p>
            <a:pPr marL="0" indent="0">
              <a:buNone/>
            </a:pPr>
            <a:r>
              <a:rPr lang="en-IN" sz="2400" dirty="0"/>
              <a:t>int n;	</a:t>
            </a:r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&gt;&gt;n;		</a:t>
            </a:r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arr</a:t>
            </a:r>
            <a:r>
              <a:rPr lang="en-IN" sz="2400" dirty="0"/>
              <a:t>[n]; 	</a:t>
            </a:r>
          </a:p>
          <a:p>
            <a:pPr marL="0" indent="0">
              <a:buNone/>
            </a:pPr>
            <a:r>
              <a:rPr lang="en-IN" sz="2400" dirty="0"/>
              <a:t>int x ; 	</a:t>
            </a:r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&gt;&gt;x;	</a:t>
            </a:r>
          </a:p>
          <a:p>
            <a:pPr marL="0" indent="0">
              <a:buNone/>
            </a:pPr>
            <a:r>
              <a:rPr lang="en-IN" sz="2400" dirty="0"/>
              <a:t>for(int </a:t>
            </a:r>
            <a:r>
              <a:rPr lang="en-IN" sz="2400" dirty="0" err="1"/>
              <a:t>i</a:t>
            </a:r>
            <a:r>
              <a:rPr lang="en-IN" sz="2400" dirty="0"/>
              <a:t>=0;i&lt;</a:t>
            </a:r>
            <a:r>
              <a:rPr lang="en-IN" sz="2400" dirty="0" err="1"/>
              <a:t>n;i</a:t>
            </a:r>
            <a:r>
              <a:rPr lang="en-IN" sz="2400" dirty="0"/>
              <a:t>++)	</a:t>
            </a:r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</a:t>
            </a:r>
            <a:r>
              <a:rPr lang="en-IN" sz="2400" dirty="0" err="1"/>
              <a:t>arr</a:t>
            </a:r>
            <a:r>
              <a:rPr lang="en-IN" sz="2400" dirty="0"/>
              <a:t>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pPr marL="0" indent="0">
              <a:buNone/>
            </a:pPr>
            <a:r>
              <a:rPr lang="en-IN" sz="2400" dirty="0"/>
              <a:t>int result =</a:t>
            </a:r>
            <a:r>
              <a:rPr lang="en-IN" sz="2400" dirty="0" err="1"/>
              <a:t>floorSearch</a:t>
            </a:r>
            <a:r>
              <a:rPr lang="en-IN" sz="2400" dirty="0"/>
              <a:t>(</a:t>
            </a:r>
            <a:r>
              <a:rPr lang="en-IN" sz="2400" dirty="0" err="1"/>
              <a:t>arr</a:t>
            </a:r>
            <a:r>
              <a:rPr lang="en-IN" sz="2400" dirty="0"/>
              <a:t>, 0, n - 1, x); </a:t>
            </a:r>
          </a:p>
        </p:txBody>
      </p:sp>
    </p:spTree>
    <p:extLst>
      <p:ext uri="{BB962C8B-B14F-4D97-AF65-F5344CB8AC3E}">
        <p14:creationId xmlns:p14="http://schemas.microsoft.com/office/powerpoint/2010/main" val="180864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0B37-414E-4799-AB77-BDD127CA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67A5-1C84-42B7-8A77-8DE9948D5C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[result]==x)	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 x;	</a:t>
            </a:r>
          </a:p>
          <a:p>
            <a:pPr marL="0" indent="0">
              <a:buNone/>
            </a:pPr>
            <a:r>
              <a:rPr lang="en-US" dirty="0"/>
              <a:t>else if(</a:t>
            </a:r>
            <a:r>
              <a:rPr lang="en-US" dirty="0" err="1"/>
              <a:t>arr</a:t>
            </a:r>
            <a:r>
              <a:rPr lang="en-US" dirty="0"/>
              <a:t>[result]&lt;x &amp;&amp; </a:t>
            </a:r>
            <a:r>
              <a:rPr lang="en-US" dirty="0" err="1"/>
              <a:t>arr</a:t>
            </a:r>
            <a:r>
              <a:rPr lang="en-US" dirty="0"/>
              <a:t>[result+1]&gt;x)	</a:t>
            </a:r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dirty="0" err="1"/>
              <a:t>cout</a:t>
            </a:r>
            <a:r>
              <a:rPr lang="en-US" dirty="0"/>
              <a:t>&lt;&lt; </a:t>
            </a:r>
            <a:r>
              <a:rPr lang="en-US" dirty="0" err="1"/>
              <a:t>arr</a:t>
            </a:r>
            <a:r>
              <a:rPr lang="en-US" dirty="0"/>
              <a:t>[result];}		</a:t>
            </a:r>
          </a:p>
          <a:p>
            <a:pPr marL="0" indent="0">
              <a:buNone/>
            </a:pPr>
            <a:r>
              <a:rPr lang="en-US" dirty="0"/>
              <a:t>else{			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[result]&gt;x&amp;&amp;result!=0)			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 </a:t>
            </a:r>
            <a:r>
              <a:rPr lang="en-US" dirty="0" err="1"/>
              <a:t>arr</a:t>
            </a:r>
            <a:r>
              <a:rPr lang="en-US" dirty="0"/>
              <a:t>[result-1];			</a:t>
            </a:r>
          </a:p>
          <a:p>
            <a:pPr marL="0" indent="0">
              <a:buNone/>
            </a:pPr>
            <a:r>
              <a:rPr lang="en-US" dirty="0"/>
              <a:t>else			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&lt;&lt;-1;}}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22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Time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T(n) = T(n/2) + c </a:t>
            </a:r>
          </a:p>
          <a:p>
            <a:r>
              <a:rPr lang="en-IN" sz="2000" dirty="0"/>
              <a:t>Using above relation, we get for T/2, T/8 etc as:</a:t>
            </a:r>
          </a:p>
          <a:p>
            <a:r>
              <a:rPr lang="en-IN" sz="2000" dirty="0"/>
              <a:t> T(n/2) = T(n/4) + c </a:t>
            </a:r>
          </a:p>
          <a:p>
            <a:r>
              <a:rPr lang="en-IN" sz="2000" dirty="0"/>
              <a:t>T(n/4) = T(n/8) + c</a:t>
            </a:r>
          </a:p>
          <a:p>
            <a:r>
              <a:rPr lang="en-IN" sz="2000" dirty="0"/>
              <a:t> T(n/8) = T(n/16) + c </a:t>
            </a:r>
          </a:p>
          <a:p>
            <a:r>
              <a:rPr lang="en-IN" sz="2000" dirty="0"/>
              <a:t>and so on. . . . . . . . . . </a:t>
            </a:r>
          </a:p>
          <a:p>
            <a:endParaRPr lang="en-IN" sz="2000" dirty="0"/>
          </a:p>
          <a:p>
            <a:r>
              <a:rPr lang="en-IN" sz="2000" dirty="0"/>
              <a:t>T(n)=T(n/</a:t>
            </a:r>
            <a:r>
              <a:rPr lang="en-IN" sz="2000" dirty="0" err="1"/>
              <a:t>2k</a:t>
            </a:r>
            <a:r>
              <a:rPr lang="en-IN" sz="2000" dirty="0"/>
              <a:t> )+</a:t>
            </a:r>
            <a:r>
              <a:rPr lang="en-IN" sz="2000" dirty="0" err="1"/>
              <a:t>c+c+c</a:t>
            </a:r>
            <a:r>
              <a:rPr lang="en-IN" sz="2000" dirty="0"/>
              <a:t>...+c</a:t>
            </a:r>
          </a:p>
          <a:p>
            <a:r>
              <a:rPr lang="en-IN" sz="2000" dirty="0"/>
              <a:t> when n=</a:t>
            </a:r>
            <a:r>
              <a:rPr lang="en-IN" sz="2000" dirty="0" err="1"/>
              <a:t>2k</a:t>
            </a:r>
            <a:r>
              <a:rPr lang="en-IN" sz="2000" dirty="0"/>
              <a:t> ,T(n)=T(1)+c*</a:t>
            </a:r>
            <a:r>
              <a:rPr lang="en-IN" sz="2000" dirty="0" err="1"/>
              <a:t>log2n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Figure 3: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Time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Time Analysis                          O(</a:t>
            </a:r>
            <a:r>
              <a:rPr lang="en-US" sz="3600" b="1" dirty="0" err="1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nlogn</a:t>
            </a:r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8" name="Picture 7" descr="Time 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428736"/>
            <a:ext cx="7759348" cy="4199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Space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the experimental analysis, we found that in case of optimized approach, on increasing value of n (increasing the number of elements in array) the graph is strictly increasing Thus the overall space increases with an increase in no. of elements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Figure 4: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Space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Space Analysis                                O(n)</a:t>
            </a:r>
          </a:p>
        </p:txBody>
      </p:sp>
      <p:pic>
        <p:nvPicPr>
          <p:cNvPr id="7" name="Picture 6" descr="Space 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428736"/>
            <a:ext cx="7786742" cy="41547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786" y="2357430"/>
            <a:ext cx="76438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There are so many applications of Divide and Conquer:</a:t>
            </a:r>
          </a:p>
          <a:p>
            <a:endParaRPr lang="en-US" sz="2000" dirty="0">
              <a:solidFill>
                <a:srgbClr val="002060"/>
              </a:solidFill>
              <a:latin typeface="Arial Rounded MT Bold" pitchFamily="34" charset="0"/>
              <a:cs typeface="Times New Roman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Binary Search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Segment Trees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Merge Sort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Quick Sort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err="1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Strassen's</a:t>
            </a:r>
            <a:r>
              <a:rPr lang="en-US" sz="2000" dirty="0">
                <a:solidFill>
                  <a:srgbClr val="002060"/>
                </a:solidFill>
                <a:latin typeface="Arial Rounded MT Bold" pitchFamily="34" charset="0"/>
                <a:cs typeface="Times New Roman" pitchFamily="18" charset="0"/>
              </a:rPr>
              <a:t> Algorithm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538" y="2143116"/>
            <a:ext cx="67151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with the above mentioned algorithms and their profiling, we come to the conclusion that this problem of finding the floor of a given number in a sorted array is achieving its best time complexity of O(</a:t>
            </a:r>
            <a:r>
              <a:rPr lang="en-US" sz="2000" dirty="0" err="1"/>
              <a:t>logn</a:t>
            </a:r>
            <a:r>
              <a:rPr lang="en-US" sz="2000" dirty="0"/>
              <a:t>) and space complexity of O(n).</a:t>
            </a:r>
            <a:endParaRPr lang="en-US" sz="2000" dirty="0">
              <a:solidFill>
                <a:srgbClr val="FF0000"/>
              </a:solidFill>
              <a:latin typeface="Arial Rounded MT Bold" pitchFamily="34" charset="0"/>
              <a:ea typeface="Cambria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2976" y="1500174"/>
            <a:ext cx="6715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600" dirty="0"/>
              <a:t>1. Introduction to Divide and Conquer Technique: https://</a:t>
            </a:r>
            <a:r>
              <a:rPr lang="en-US" sz="1600" dirty="0" err="1"/>
              <a:t>www.geeksforgeeks.org</a:t>
            </a:r>
            <a:r>
              <a:rPr lang="en-US" sz="1600" dirty="0"/>
              <a:t>/divide-</a:t>
            </a:r>
            <a:r>
              <a:rPr lang="en-US" sz="1600" dirty="0" err="1"/>
              <a:t>andconquer</a:t>
            </a:r>
            <a:r>
              <a:rPr lang="en-US" sz="1600" dirty="0"/>
              <a:t>-algorithm-introduction/ </a:t>
            </a:r>
          </a:p>
          <a:p>
            <a:pPr marL="457200" indent="-457200">
              <a:buAutoNum type="arabicPeriod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       Introduction to Algorithms by </a:t>
            </a:r>
            <a:r>
              <a:rPr lang="en-US" sz="1600" dirty="0" err="1"/>
              <a:t>Cormen,Charles</a:t>
            </a:r>
            <a:r>
              <a:rPr lang="en-US" sz="1600" dirty="0"/>
              <a:t>, Rivest and Stein.</a:t>
            </a:r>
          </a:p>
          <a:p>
            <a:r>
              <a:rPr lang="en-US" sz="1600" dirty="0"/>
              <a:t>           https://</a:t>
            </a:r>
            <a:r>
              <a:rPr lang="en-US" sz="1600" dirty="0" err="1"/>
              <a:t>web.ist.utl.pt</a:t>
            </a:r>
            <a:r>
              <a:rPr lang="en-US" sz="1600" dirty="0"/>
              <a:t>/ </a:t>
            </a:r>
            <a:r>
              <a:rPr lang="en-US" sz="1600" dirty="0" err="1"/>
              <a:t>fabio.ferreira</a:t>
            </a:r>
            <a:r>
              <a:rPr lang="en-US" sz="1600" dirty="0"/>
              <a:t>/material/</a:t>
            </a:r>
            <a:r>
              <a:rPr lang="en-US" sz="1600" dirty="0" err="1"/>
              <a:t>asa</a:t>
            </a:r>
            <a:endParaRPr lang="en-US" sz="1600" dirty="0">
              <a:latin typeface="Arial Rounded MT Bold" pitchFamily="34" charset="0"/>
              <a:ea typeface="Cambria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itchFamily="18" charset="0"/>
                <a:cs typeface="Times New Roman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14" y="2285992"/>
            <a:ext cx="6858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rial Rounded MT Bold" pitchFamily="34" charset="0"/>
              </a:rPr>
              <a:t>THANK YOU 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1196</Words>
  <Application>Microsoft Office PowerPoint</Application>
  <PresentationFormat>On-screen Show (4:3)</PresentationFormat>
  <Paragraphs>121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Rounded MT Bold</vt:lpstr>
      <vt:lpstr>Calibri</vt:lpstr>
      <vt:lpstr>Georgia</vt:lpstr>
      <vt:lpstr>Times New Roman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ANKUSH SONKER</dc:creator>
  <cp:lastModifiedBy>sangam barnwal</cp:lastModifiedBy>
  <cp:revision>52</cp:revision>
  <dcterms:created xsi:type="dcterms:W3CDTF">2021-01-21T10:29:25Z</dcterms:created>
  <dcterms:modified xsi:type="dcterms:W3CDTF">2021-03-21T17:38:14Z</dcterms:modified>
</cp:coreProperties>
</file>