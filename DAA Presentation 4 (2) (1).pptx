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79" r:id="rId4"/>
    <p:sldId id="257" r:id="rId5"/>
    <p:sldId id="291" r:id="rId6"/>
    <p:sldId id="280" r:id="rId7"/>
    <p:sldId id="285" r:id="rId8"/>
    <p:sldId id="287" r:id="rId9"/>
    <p:sldId id="290" r:id="rId10"/>
    <p:sldId id="292" r:id="rId11"/>
    <p:sldId id="293" r:id="rId12"/>
    <p:sldId id="288" r:id="rId13"/>
    <p:sldId id="284" r:id="rId14"/>
    <p:sldId id="289" r:id="rId15"/>
    <p:sldId id="269" r:id="rId16"/>
    <p:sldId id="264" r:id="rId17"/>
    <p:sldId id="283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70255C-5FDA-4F79-A280-0912CDE28B3F}">
          <p14:sldIdLst>
            <p14:sldId id="256"/>
            <p14:sldId id="279"/>
            <p14:sldId id="257"/>
            <p14:sldId id="287"/>
            <p14:sldId id="285"/>
            <p14:sldId id="280"/>
            <p14:sldId id="291"/>
          </p14:sldIdLst>
        </p14:section>
        <p14:section name="Untitled Section" id="{08ADE71F-7112-4B08-89C6-81AE690908A6}">
          <p14:sldIdLst>
            <p14:sldId id="290"/>
            <p14:sldId id="292"/>
            <p14:sldId id="288"/>
            <p14:sldId id="284"/>
            <p14:sldId id="269"/>
            <p14:sldId id="293"/>
            <p14:sldId id="283"/>
            <p14:sldId id="265"/>
            <p14:sldId id="264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4799-DAC2-4E87-BBC6-C4278CFF2FD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9B43B-0BA9-4257-8CDA-18681263DBC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FA906B3-C5E6-431E-B84A-717DF88A212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7290" y="857232"/>
            <a:ext cx="67866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Design And Analysis of Algorithms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endParaRPr lang="en-US" sz="2400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Department of Information Technology</a:t>
            </a:r>
            <a:endParaRPr lang="en-US" sz="2400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-----Group Members-----</a:t>
            </a:r>
            <a:endParaRPr lang="en-US" dirty="0">
              <a:solidFill>
                <a:srgbClr val="002060"/>
              </a:solidFill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IN" b="1" dirty="0" err="1"/>
              <a:t>Suhaib</a:t>
            </a:r>
            <a:r>
              <a:rPr lang="en-IN" b="1" dirty="0"/>
              <a:t> Khan(</a:t>
            </a:r>
            <a:r>
              <a:rPr lang="en-IN" b="1" dirty="0" err="1"/>
              <a:t>IIB2019039</a:t>
            </a:r>
            <a:r>
              <a:rPr lang="en-IN" b="1" dirty="0"/>
              <a:t>)</a:t>
            </a:r>
            <a:endParaRPr lang="en-IN" b="1" dirty="0"/>
          </a:p>
          <a:p>
            <a:pPr algn="ctr"/>
            <a:r>
              <a:rPr lang="en-IN" b="1" dirty="0"/>
              <a:t> Sangam </a:t>
            </a:r>
            <a:r>
              <a:rPr lang="en-IN" b="1" dirty="0" err="1"/>
              <a:t>Barnwal</a:t>
            </a:r>
            <a:r>
              <a:rPr lang="en-IN" b="1" dirty="0"/>
              <a:t>(</a:t>
            </a:r>
            <a:r>
              <a:rPr lang="en-IN" b="1" dirty="0" err="1"/>
              <a:t>IIT2019094</a:t>
            </a:r>
            <a:r>
              <a:rPr lang="en-IN" b="1" dirty="0"/>
              <a:t>)</a:t>
            </a:r>
            <a:endParaRPr lang="en-IN" b="1" dirty="0"/>
          </a:p>
          <a:p>
            <a:pPr algn="ctr"/>
            <a:r>
              <a:rPr lang="en-IN" b="1" dirty="0"/>
              <a:t> Sanjana Reddy (</a:t>
            </a:r>
            <a:r>
              <a:rPr lang="en-IN" b="1" dirty="0" err="1"/>
              <a:t>IIT2019095</a:t>
            </a:r>
            <a:r>
              <a:rPr lang="en-IN" b="1" dirty="0"/>
              <a:t>)</a:t>
            </a:r>
            <a:endParaRPr lang="en-IN" b="1" dirty="0"/>
          </a:p>
          <a:p>
            <a:pPr algn="ctr"/>
            <a:endParaRPr lang="en-US" dirty="0">
              <a:solidFill>
                <a:srgbClr val="C00000"/>
              </a:solidFill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latin typeface="Arial Rounded MT Bold" pitchFamily="34" charset="0"/>
                <a:ea typeface="Cambria" panose="02040503050406030204" pitchFamily="18" charset="0"/>
              </a:rPr>
              <a:t>ASSIGNMENT-4 DEMOSTRATION</a:t>
            </a:r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271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OUTLINES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8062" y="2133273"/>
            <a:ext cx="6500858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Introduction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 Problem Statement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Divide and Conquer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 Experimental Analysis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Conclusion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References</a:t>
            </a:r>
            <a:endParaRPr lang="en-US" sz="24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5430" y="1556792"/>
            <a:ext cx="6500858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Given an array and a value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x,the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problem is to find the floor of x which is the largest element in the array smaller than or equal to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x.In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this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paper,we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see the algorithm using divide and conquer approach to solve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problem.Then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 will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time complexity of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algorithm.We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see a O(log n) solution which will be much faster than the brute force approach. </a:t>
            </a:r>
            <a:r>
              <a:rPr lang="en-US" sz="3200" dirty="0"/>
              <a:t>“</a:t>
            </a:r>
            <a:endParaRPr lang="en-US" sz="32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We are given an array and a value x whose floor is to be </a:t>
            </a:r>
            <a:r>
              <a:rPr lang="en-US" dirty="0" err="1"/>
              <a:t>found.A</a:t>
            </a:r>
            <a:r>
              <a:rPr lang="en-US" dirty="0"/>
              <a:t> naive solution can be to traverse through the array and find the first element greater than x. The element just before the found element is the floor of </a:t>
            </a:r>
            <a:r>
              <a:rPr lang="en-US" dirty="0" err="1"/>
              <a:t>x.This</a:t>
            </a:r>
            <a:r>
              <a:rPr lang="en-US" dirty="0"/>
              <a:t> is similar to linear search and gives the O(n) </a:t>
            </a:r>
            <a:r>
              <a:rPr lang="en-US" dirty="0" err="1"/>
              <a:t>solution.If</a:t>
            </a:r>
            <a:r>
              <a:rPr lang="en-US" dirty="0"/>
              <a:t> this solution uses linear search ,we can get the intuitive idea of using binary search to solve the problem efficiently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Divide and Conquer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4" y="2000240"/>
            <a:ext cx="67419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Divide and Conquer is an algorithmic paradigm. A typical Divide and Conquer algorithm solves a problem using following three steps. 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Divide: Break the given problem into subproblems of same type. </a:t>
            </a:r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 Conquer: Recursively solve these subproblems. </a:t>
            </a:r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 Combine: Appropriately combine the answers.</a:t>
            </a:r>
            <a:endParaRPr lang="en-US" sz="20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Algorithmic Steps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4414" y="1500174"/>
            <a:ext cx="6500858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Create three variables l = 0, mid and r = n-1.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Recurse until and unless l is less than r.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check if the middle ( l + (r-l) /2) element is equal than x, if yes then return the mid index.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else check if middle element is greater than x ,if yes then update the r, </a:t>
            </a:r>
            <a:r>
              <a:rPr lang="en-US" dirty="0" err="1"/>
              <a:t>i.e</a:t>
            </a:r>
            <a:r>
              <a:rPr lang="en-US" dirty="0"/>
              <a:t> r = mid - 1, and recurse. In this step we are reducing the search space to half.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Else update the l, </a:t>
            </a:r>
            <a:r>
              <a:rPr lang="en-US" dirty="0" err="1"/>
              <a:t>i.e</a:t>
            </a:r>
            <a:r>
              <a:rPr lang="en-US" dirty="0"/>
              <a:t> l = mid +1 and recurse.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when l ≥r ,return l.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 = </a:t>
            </a:r>
            <a:r>
              <a:rPr lang="en-US" dirty="0" err="1"/>
              <a:t>x,floor</a:t>
            </a:r>
            <a:r>
              <a:rPr lang="en-US" dirty="0"/>
              <a:t> = x.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 &lt; </a:t>
            </a:r>
            <a:r>
              <a:rPr lang="en-US" dirty="0" err="1"/>
              <a:t>x,floor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[l].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If </a:t>
            </a:r>
            <a:r>
              <a:rPr lang="en-US" dirty="0" err="1"/>
              <a:t>arr</a:t>
            </a:r>
            <a:r>
              <a:rPr lang="en-US" dirty="0"/>
              <a:t>[l]&gt; </a:t>
            </a:r>
            <a:r>
              <a:rPr lang="en-US" dirty="0" err="1"/>
              <a:t>x and</a:t>
            </a:r>
            <a:r>
              <a:rPr lang="en-US" dirty="0"/>
              <a:t> </a:t>
            </a:r>
            <a:r>
              <a:rPr lang="en-US" dirty="0" err="1"/>
              <a:t>l!</a:t>
            </a:r>
            <a:r>
              <a:rPr lang="en-US" dirty="0"/>
              <a:t>= 0, floor = </a:t>
            </a:r>
            <a:r>
              <a:rPr lang="en-US" dirty="0" err="1"/>
              <a:t>arr</a:t>
            </a:r>
            <a:r>
              <a:rPr lang="en-US" dirty="0"/>
              <a:t>[l − 1]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else floor not present.</a:t>
            </a:r>
            <a:endParaRPr lang="en-US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587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Algorithmic Analysis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4414" y="1714488"/>
            <a:ext cx="6929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ANALYSIS: We have tried to do the </a:t>
            </a:r>
            <a:r>
              <a:rPr lang="en-US" dirty="0" err="1"/>
              <a:t>Apriori</a:t>
            </a:r>
            <a:r>
              <a:rPr lang="en-US" dirty="0"/>
              <a:t> Analysis of the approach based on Divide and Conquer. Let T(n) and S(n) is the time and space respectively.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COMPLEXITY DERIVATION: Let Time complexity of above algorithm be T(n). In the base case the </a:t>
            </a:r>
            <a:r>
              <a:rPr lang="en-US" dirty="0" err="1"/>
              <a:t>funtion</a:t>
            </a:r>
            <a:r>
              <a:rPr lang="en-US" dirty="0"/>
              <a:t> compares </a:t>
            </a:r>
            <a:r>
              <a:rPr lang="en-US" dirty="0" err="1"/>
              <a:t>l,r</a:t>
            </a:r>
            <a:r>
              <a:rPr lang="en-US" dirty="0"/>
              <a:t> and returns which takes constant </a:t>
            </a:r>
            <a:r>
              <a:rPr lang="en-US" dirty="0" err="1"/>
              <a:t>time.Otherwise</a:t>
            </a:r>
            <a:r>
              <a:rPr lang="en-US" dirty="0"/>
              <a:t>, comparison and calculation of the middle element will take constant time and then the problem is divided into another problem of size n/2 (either </a:t>
            </a:r>
            <a:r>
              <a:rPr lang="en-US" dirty="0" err="1"/>
              <a:t>floorSearch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l, mid - 1, x) or </a:t>
            </a:r>
            <a:r>
              <a:rPr lang="en-US" dirty="0" err="1"/>
              <a:t>floorSearch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 + 1, r, x). </a:t>
            </a:r>
            <a:endParaRPr lang="en-US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1752" y="177800"/>
            <a:ext cx="8534400" cy="53035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908720"/>
            <a:ext cx="8503920" cy="51903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#include &lt;bits/</a:t>
            </a:r>
            <a:r>
              <a:rPr lang="en-IN" sz="2000" dirty="0" err="1"/>
              <a:t>stdc</a:t>
            </a:r>
            <a:r>
              <a:rPr lang="en-IN" sz="2000"/>
              <a:t>++.h&gt;</a:t>
            </a:r>
            <a:endParaRPr lang="en-IN" sz="2000"/>
          </a:p>
          <a:p>
            <a:pPr marL="0" indent="0">
              <a:buNone/>
            </a:pPr>
            <a:r>
              <a:rPr lang="en-IN" sz="2000" dirty="0"/>
              <a:t>using namespace std; 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floorSearch</a:t>
            </a:r>
            <a:r>
              <a:rPr lang="en-IN" sz="2000" dirty="0"/>
              <a:t>(int </a:t>
            </a:r>
            <a:r>
              <a:rPr lang="en-IN" sz="2000" dirty="0" err="1"/>
              <a:t>arr</a:t>
            </a:r>
            <a:r>
              <a:rPr lang="en-IN" sz="2000" dirty="0"/>
              <a:t>[], int l, int r, int x) { 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if (r &gt; l) { 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int mid =(r + l) / 2;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if (</a:t>
            </a:r>
            <a:r>
              <a:rPr lang="en-IN" sz="2000" dirty="0" err="1"/>
              <a:t>arr</a:t>
            </a:r>
            <a:r>
              <a:rPr lang="en-IN" sz="2000" dirty="0"/>
              <a:t>[mid] == x) 	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return mid; 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if (</a:t>
            </a:r>
            <a:r>
              <a:rPr lang="en-IN" sz="2000" dirty="0" err="1"/>
              <a:t>arr</a:t>
            </a:r>
            <a:r>
              <a:rPr lang="en-IN" sz="2000" dirty="0"/>
              <a:t>[mid] &gt; x) 	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return </a:t>
            </a:r>
            <a:r>
              <a:rPr lang="en-IN" sz="2000" dirty="0" err="1"/>
              <a:t>floorSearch</a:t>
            </a:r>
            <a:r>
              <a:rPr lang="en-IN" sz="2000" dirty="0"/>
              <a:t>(</a:t>
            </a:r>
            <a:r>
              <a:rPr lang="en-IN" sz="2000" dirty="0" err="1"/>
              <a:t>arr</a:t>
            </a:r>
            <a:r>
              <a:rPr lang="en-IN" sz="2000" dirty="0"/>
              <a:t>, l, mid - 1, x); 		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return </a:t>
            </a:r>
            <a:r>
              <a:rPr lang="en-IN" sz="2000" dirty="0" err="1"/>
              <a:t>floorSearch</a:t>
            </a:r>
            <a:r>
              <a:rPr lang="en-IN" sz="2000" dirty="0"/>
              <a:t>(</a:t>
            </a:r>
            <a:r>
              <a:rPr lang="en-IN" sz="2000" dirty="0" err="1"/>
              <a:t>arr</a:t>
            </a:r>
            <a:r>
              <a:rPr lang="en-IN" sz="2000" dirty="0"/>
              <a:t>, mid + 1, r, x); } 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if(r&lt;=l)		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return l; }</a:t>
            </a:r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int main(void) {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int n;	</a:t>
            </a: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&gt;&gt;n;		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arr</a:t>
            </a:r>
            <a:r>
              <a:rPr lang="en-IN" sz="2400" dirty="0"/>
              <a:t>[n]; 	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int x ; 	</a:t>
            </a: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&gt;&gt;x;	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for(int </a:t>
            </a:r>
            <a:r>
              <a:rPr lang="en-IN" sz="2400" dirty="0" err="1"/>
              <a:t>i</a:t>
            </a:r>
            <a:r>
              <a:rPr lang="en-IN" sz="2400" dirty="0"/>
              <a:t>=0;i&lt;</a:t>
            </a:r>
            <a:r>
              <a:rPr lang="en-IN" sz="2400" dirty="0" err="1"/>
              <a:t>n;i</a:t>
            </a:r>
            <a:r>
              <a:rPr lang="en-IN" sz="2400" dirty="0"/>
              <a:t>++)	</a:t>
            </a: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cin</a:t>
            </a:r>
            <a:r>
              <a:rPr lang="en-IN" sz="2400" dirty="0"/>
              <a:t>&gt;&gt;</a:t>
            </a:r>
            <a:r>
              <a:rPr lang="en-IN" sz="2400" dirty="0" err="1"/>
              <a:t>arr</a:t>
            </a:r>
            <a:r>
              <a:rPr lang="en-IN" sz="2400" dirty="0"/>
              <a:t>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int result =</a:t>
            </a:r>
            <a:r>
              <a:rPr lang="en-IN" sz="2400" dirty="0" err="1"/>
              <a:t>floorSearch</a:t>
            </a:r>
            <a:r>
              <a:rPr lang="en-IN" sz="2400" dirty="0"/>
              <a:t>(</a:t>
            </a:r>
            <a:r>
              <a:rPr lang="en-IN" sz="2400" dirty="0" err="1"/>
              <a:t>arr</a:t>
            </a:r>
            <a:r>
              <a:rPr lang="en-IN" sz="2400" dirty="0"/>
              <a:t>, 0, n - 1, x); 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[result]==x)	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 x;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 if(</a:t>
            </a:r>
            <a:r>
              <a:rPr lang="en-US" dirty="0" err="1"/>
              <a:t>arr</a:t>
            </a:r>
            <a:r>
              <a:rPr lang="en-US" dirty="0"/>
              <a:t>[result]&lt;x &amp;&amp; </a:t>
            </a:r>
            <a:r>
              <a:rPr lang="en-US" dirty="0" err="1"/>
              <a:t>arr</a:t>
            </a:r>
            <a:r>
              <a:rPr lang="en-US" dirty="0"/>
              <a:t>[result+1]&gt;x)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  <a:r>
              <a:rPr lang="en-US" dirty="0" err="1"/>
              <a:t>cout</a:t>
            </a:r>
            <a:r>
              <a:rPr lang="en-US" dirty="0"/>
              <a:t>&lt;&lt; </a:t>
            </a:r>
            <a:r>
              <a:rPr lang="en-US" dirty="0" err="1"/>
              <a:t>arr</a:t>
            </a:r>
            <a:r>
              <a:rPr lang="en-US" dirty="0"/>
              <a:t>[result];}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else{	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[result]&gt;x&amp;&amp;result!=0)			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 </a:t>
            </a:r>
            <a:r>
              <a:rPr lang="en-US" dirty="0" err="1"/>
              <a:t>arr</a:t>
            </a:r>
            <a:r>
              <a:rPr lang="en-US" dirty="0"/>
              <a:t>[result-1];	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			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&lt;&lt;-1;}}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Time Analysis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T(n) = T(n/2) + c </a:t>
            </a:r>
            <a:endParaRPr lang="en-IN" sz="2000" dirty="0"/>
          </a:p>
          <a:p>
            <a:r>
              <a:rPr lang="en-IN" sz="2000" dirty="0"/>
              <a:t>Using above relation, we get for T/2, T/8 etc as:</a:t>
            </a:r>
            <a:endParaRPr lang="en-IN" sz="2000" dirty="0"/>
          </a:p>
          <a:p>
            <a:r>
              <a:rPr lang="en-IN" sz="2000" dirty="0"/>
              <a:t> T(n/2) = T(n/4) + c </a:t>
            </a:r>
            <a:endParaRPr lang="en-IN" sz="2000" dirty="0"/>
          </a:p>
          <a:p>
            <a:r>
              <a:rPr lang="en-IN" sz="2000" dirty="0"/>
              <a:t>T(n/4) = T(n/8) + c</a:t>
            </a:r>
            <a:endParaRPr lang="en-IN" sz="2000" dirty="0"/>
          </a:p>
          <a:p>
            <a:r>
              <a:rPr lang="en-IN" sz="2000" dirty="0"/>
              <a:t> T(n/8) = T(n/16) + c </a:t>
            </a:r>
            <a:endParaRPr lang="en-IN" sz="2000" dirty="0"/>
          </a:p>
          <a:p>
            <a:r>
              <a:rPr lang="en-IN" sz="2000" dirty="0"/>
              <a:t>and so on. . . . . . . . . . 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T(n)=T(n/</a:t>
            </a:r>
            <a:r>
              <a:rPr lang="en-IN" sz="2000" dirty="0" err="1"/>
              <a:t>2k</a:t>
            </a:r>
            <a:r>
              <a:rPr lang="en-IN" sz="2000" dirty="0"/>
              <a:t> )+</a:t>
            </a:r>
            <a:r>
              <a:rPr lang="en-IN" sz="2000" dirty="0" err="1"/>
              <a:t>c+c+c</a:t>
            </a:r>
            <a:r>
              <a:rPr lang="en-IN" sz="2000" dirty="0"/>
              <a:t>...+c</a:t>
            </a:r>
            <a:endParaRPr lang="en-IN" sz="2000" dirty="0"/>
          </a:p>
          <a:p>
            <a:r>
              <a:rPr lang="en-IN" sz="2000" dirty="0"/>
              <a:t> when n=</a:t>
            </a:r>
            <a:r>
              <a:rPr lang="en-IN" sz="2000" dirty="0" err="1"/>
              <a:t>2k</a:t>
            </a:r>
            <a:r>
              <a:rPr lang="en-IN" sz="2000" dirty="0"/>
              <a:t> ,T(n)=T(1)+c*</a:t>
            </a:r>
            <a:r>
              <a:rPr lang="en-IN" sz="2000" dirty="0" err="1"/>
              <a:t>log2n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231" y="477182"/>
            <a:ext cx="8215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Time Analysis                    O(</a:t>
            </a:r>
            <a:r>
              <a:rPr lang="en-US" sz="3600" b="1" dirty="0" err="1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logn</a:t>
            </a:r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ime Complex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1196975"/>
            <a:ext cx="4775200" cy="4225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Space Analysis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the experimental analysis, we found that in case of optimized approach, on increasing value of n (increasing the number of elements in array) the graph is strictly increasing Thus the overall space increases with an increase in no. of elements 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Space Analysis                                O(n)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pace Complex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485265"/>
            <a:ext cx="4523740" cy="4003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538" y="2143116"/>
            <a:ext cx="67151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with the above mentioned algorithms and their profiling, we come to the conclusion that this problem of finding the floor of a given number in a sorted array is achieving its best time complexity of O(</a:t>
            </a:r>
            <a:r>
              <a:rPr lang="en-US" sz="2000" dirty="0" err="1"/>
              <a:t>logn</a:t>
            </a:r>
            <a:r>
              <a:rPr lang="en-US" sz="2000" dirty="0"/>
              <a:t>) and space complexity of O(n).</a:t>
            </a:r>
            <a:endParaRPr lang="en-US" sz="2000" dirty="0">
              <a:solidFill>
                <a:srgbClr val="FF0000"/>
              </a:solidFill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2976" y="1500174"/>
            <a:ext cx="6715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600" dirty="0"/>
              <a:t>1. Introduction to Divide and Conquer Technique: https://</a:t>
            </a:r>
            <a:r>
              <a:rPr lang="en-US" sz="1600" dirty="0" err="1"/>
              <a:t>www.geeksforgeeks.org</a:t>
            </a:r>
            <a:r>
              <a:rPr lang="en-US" sz="1600" dirty="0"/>
              <a:t>/divide-</a:t>
            </a:r>
            <a:r>
              <a:rPr lang="en-US" sz="1600" dirty="0" err="1"/>
              <a:t>andconquer</a:t>
            </a:r>
            <a:r>
              <a:rPr lang="en-US" sz="1600" dirty="0"/>
              <a:t>-algorithm-introduction/ </a:t>
            </a:r>
            <a:endParaRPr lang="en-US" sz="1600" dirty="0"/>
          </a:p>
          <a:p>
            <a:pPr marL="457200" indent="-457200">
              <a:buAutoNum type="arabicPeriod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       Introduction to Algorithms by </a:t>
            </a:r>
            <a:r>
              <a:rPr lang="en-US" sz="1600" dirty="0" err="1"/>
              <a:t>Cormen,Charles</a:t>
            </a:r>
            <a:r>
              <a:rPr lang="en-US" sz="1600" dirty="0"/>
              <a:t>, Rivest and Stein.</a:t>
            </a:r>
            <a:endParaRPr lang="en-US" sz="1600" dirty="0"/>
          </a:p>
          <a:p>
            <a:r>
              <a:rPr lang="en-US" sz="1600" dirty="0"/>
              <a:t>           https://</a:t>
            </a:r>
            <a:r>
              <a:rPr lang="en-US" sz="1600" dirty="0" err="1"/>
              <a:t>web.ist.utl.pt</a:t>
            </a:r>
            <a:r>
              <a:rPr lang="en-US" sz="1600" dirty="0"/>
              <a:t>/ </a:t>
            </a:r>
            <a:r>
              <a:rPr lang="en-US" sz="1600" dirty="0" err="1"/>
              <a:t>fabio.ferreira</a:t>
            </a:r>
            <a:r>
              <a:rPr lang="en-US" sz="1600" dirty="0"/>
              <a:t>/material/</a:t>
            </a:r>
            <a:r>
              <a:rPr lang="en-US" sz="1600" dirty="0" err="1"/>
              <a:t>asa</a:t>
            </a:r>
            <a:endParaRPr lang="en-US" sz="1600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14" y="2285992"/>
            <a:ext cx="6858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rial Rounded MT Bold" pitchFamily="34" charset="0"/>
              </a:rPr>
              <a:t>THANK YOU !!</a:t>
            </a:r>
            <a:endParaRPr lang="en-US" sz="7200" b="1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4293</Words>
  <Application>WPS Presentation</Application>
  <PresentationFormat>On-screen Show (4:3)</PresentationFormat>
  <Paragraphs>134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Wingdings 2</vt:lpstr>
      <vt:lpstr>Wingdings</vt:lpstr>
      <vt:lpstr>Wingdings</vt:lpstr>
      <vt:lpstr>Arial Rounded MT Bold</vt:lpstr>
      <vt:lpstr>Cambria</vt:lpstr>
      <vt:lpstr>Times New Roman</vt:lpstr>
      <vt:lpstr>Georgia</vt:lpstr>
      <vt:lpstr>Microsoft YaHei</vt:lpstr>
      <vt:lpstr>Arial Unicode MS</vt:lpstr>
      <vt:lpstr>Calibri</vt:lpstr>
      <vt:lpstr>Civic</vt:lpstr>
      <vt:lpstr>PowerPoint 演示文稿</vt:lpstr>
      <vt:lpstr>PowerPoint 演示文稿</vt:lpstr>
      <vt:lpstr>PowerPoint 演示文稿</vt:lpstr>
      <vt:lpstr>INTRODUCTION</vt:lpstr>
      <vt:lpstr>PowerPoint 演示文稿</vt:lpstr>
      <vt:lpstr>PowerPoint 演示文稿</vt:lpstr>
      <vt:lpstr>PowerPoint 演示文稿</vt:lpstr>
      <vt:lpstr>code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ANKUSH SONKER</dc:creator>
  <cp:lastModifiedBy>suhaib</cp:lastModifiedBy>
  <cp:revision>53</cp:revision>
  <dcterms:created xsi:type="dcterms:W3CDTF">2021-01-21T10:29:00Z</dcterms:created>
  <dcterms:modified xsi:type="dcterms:W3CDTF">2021-03-22T11:43:08Z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1033-11.2.0.10017</vt:lpwstr>
  </property>
</Properties>
</file>